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006139" y="3625596"/>
            <a:ext cx="3108960" cy="3108960"/>
          </a:xfrm>
          <a:prstGeom prst="ellipse">
            <a:avLst/>
          </a:prstGeom>
          <a:noFill/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109729"/>
            <a:ext cx="2377440" cy="2377440"/>
          </a:xfrm>
          <a:prstGeom prst="ellipse">
            <a:avLst/>
          </a:prstGeom>
          <a:noFill/>
          <a:ln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02296" y="1874014"/>
            <a:ext cx="2103120" cy="2103120"/>
          </a:xfrm>
          <a:prstGeom prst="ellipse">
            <a:avLst/>
          </a:prstGeom>
          <a:noFill/>
          <a:ln>
            <a:solidFill>
              <a:srgbClr val="3B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PROJECT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3108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AA6C2"/>
                </a:solidFill>
                <a:latin typeface="Aptos"/>
              </a:defRPr>
            </a:pPr>
            <a:r>
              <a:t>01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28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9665" y="646176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DA6FF"/>
                </a:solidFill>
                <a:latin typeface="Aptos"/>
              </a:defRPr>
            </a:pPr>
            <a:r>
              <a:t>HOSPITAL EMERGENCY ROUTE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369" y="1297990"/>
            <a:ext cx="6126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t>HOSPITAL EMERGENCY</a:t>
            </a:r>
            <a:br/>
            <a:r>
              <a:t>ROUTE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AA6C2"/>
                </a:solidFill>
                <a:latin typeface="Aptos"/>
              </a:defRPr>
            </a:pPr>
            <a:r>
              <a:t>An algorithm-driven hospital/campus routing system that finds fast, safe paths while prioritizing critical destinations and avoiding blocked corridors.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13632"/>
            <a:ext cx="1417320" cy="310896"/>
          </a:xfrm>
          <a:prstGeom prst="round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060914"/>
                </a:solidFill>
                <a:latin typeface="Aptos"/>
              </a:defRPr>
            </a:pPr>
            <a:r>
              <a:t>PRIORITY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3913632"/>
            <a:ext cx="1143000" cy="310896"/>
          </a:xfrm>
          <a:prstGeom prst="round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12848" y="39319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060914"/>
                </a:solidFill>
                <a:latin typeface="Aptos"/>
              </a:defRPr>
            </a:pPr>
            <a:r>
              <a:t>DIJKSTRA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913632"/>
            <a:ext cx="685800" cy="310896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39319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060914"/>
                </a:solidFill>
                <a:latin typeface="Aptos"/>
              </a:defRPr>
            </a:pPr>
            <a:r>
              <a:t>BFS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17720"/>
            <a:ext cx="2514600" cy="1078992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617720"/>
            <a:ext cx="50292" cy="1078992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773168"/>
            <a:ext cx="2130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138928"/>
            <a:ext cx="21305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F8FAFF"/>
                </a:solidFill>
                <a:latin typeface="Aptos"/>
              </a:defRPr>
            </a:pPr>
            <a:r>
              <a:t>1. Tharun Mudhiraj  — 25MVCSMR0169</a:t>
            </a:r>
            <a:br/>
            <a:r>
              <a:t>2. Nikhil Reddy  — 25MVCSMR0162</a:t>
            </a:r>
            <a:br/>
            <a:r>
              <a:t>3. Manoj Goud  — 25MVCSMR0159</a:t>
            </a:r>
            <a:br/>
            <a:r>
              <a:t>4. Varun Yadav  — 25MVCSMR0159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4617720"/>
            <a:ext cx="2514600" cy="1078992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01568" y="4617720"/>
            <a:ext cx="50292" cy="1078992"/>
          </a:xfrm>
          <a:prstGeom prst="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02736" y="4773168"/>
            <a:ext cx="2130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5B5B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5138928"/>
            <a:ext cx="21305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Healthcare • Smart Campus</a:t>
            </a:r>
            <a:br/>
            <a:r>
              <a:t>Emergency Navigation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1143000"/>
            <a:ext cx="4160520" cy="4251960"/>
          </a:xfrm>
          <a:prstGeom prst="roundRect">
            <a:avLst/>
          </a:prstGeom>
          <a:solidFill>
            <a:srgbClr val="141D35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13898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LIVE MAP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5240" y="1965960"/>
            <a:ext cx="3200400" cy="0"/>
          </a:xfrm>
          <a:prstGeom prst="line">
            <a:avLst/>
          </a:prstGeom>
          <a:ln w="635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35240" y="2834640"/>
            <a:ext cx="3200400" cy="0"/>
          </a:xfrm>
          <a:prstGeom prst="line">
            <a:avLst/>
          </a:prstGeom>
          <a:ln w="635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35240" y="3703320"/>
            <a:ext cx="3200400" cy="0"/>
          </a:xfrm>
          <a:prstGeom prst="line">
            <a:avLst/>
          </a:prstGeom>
          <a:ln w="635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66760" y="1737360"/>
            <a:ext cx="0" cy="3017520"/>
          </a:xfrm>
          <a:prstGeom prst="line">
            <a:avLst/>
          </a:prstGeom>
          <a:ln w="635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1737360"/>
            <a:ext cx="0" cy="3017520"/>
          </a:xfrm>
          <a:prstGeom prst="line">
            <a:avLst/>
          </a:prstGeom>
          <a:ln w="635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41280" y="1737360"/>
            <a:ext cx="0" cy="3017520"/>
          </a:xfrm>
          <a:prstGeom prst="line">
            <a:avLst/>
          </a:prstGeom>
          <a:ln w="635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18120" y="3703320"/>
            <a:ext cx="548640" cy="594360"/>
          </a:xfrm>
          <a:prstGeom prst="line">
            <a:avLst/>
          </a:prstGeom>
          <a:ln w="50800">
            <a:solidFill>
              <a:srgbClr val="3B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366760" y="2834640"/>
            <a:ext cx="960120" cy="868680"/>
          </a:xfrm>
          <a:prstGeom prst="line">
            <a:avLst/>
          </a:prstGeom>
          <a:ln w="50800">
            <a:solidFill>
              <a:srgbClr val="3B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326880" y="1965960"/>
            <a:ext cx="914400" cy="868680"/>
          </a:xfrm>
          <a:prstGeom prst="line">
            <a:avLst/>
          </a:prstGeom>
          <a:ln w="50800">
            <a:solidFill>
              <a:srgbClr val="3B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680960" y="4160520"/>
            <a:ext cx="201168" cy="201168"/>
          </a:xfrm>
          <a:prstGeom prst="ellipse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04120" y="1828800"/>
            <a:ext cx="201168" cy="201168"/>
          </a:xfrm>
          <a:prstGeom prst="ellipse">
            <a:avLst/>
          </a:prstGeom>
          <a:solidFill>
            <a:srgbClr val="53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229600" y="3566160"/>
            <a:ext cx="201168" cy="201168"/>
          </a:xfrm>
          <a:prstGeom prst="ellipse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189720" y="2697480"/>
            <a:ext cx="201168" cy="201168"/>
          </a:xfrm>
          <a:prstGeom prst="ellipse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70648" y="4864331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AA6C2"/>
                </a:solidFill>
                <a:latin typeface="Aptos"/>
              </a:defRPr>
            </a:pPr>
            <a:r>
              <a:t>AMBULANCE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89204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AA6C2"/>
                </a:solidFill>
                <a:latin typeface="Aptos"/>
              </a:defRPr>
            </a:pPr>
            <a:r>
              <a:t>CRITICAL DESTINATION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327148"/>
            <a:ext cx="609333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6C2"/>
                </a:solidFill>
                <a:latin typeface="Aptos"/>
              </a:defRPr>
            </a:pPr>
            <a:r>
              <a:rPr dirty="0"/>
              <a:t>Fastest emergency routing through hospital/campus maps using Priority Queue,</a:t>
            </a:r>
            <a:br>
              <a:rPr lang="en-US" dirty="0"/>
            </a:br>
            <a:r>
              <a:rPr dirty="0"/>
              <a:t> Dijkstra's Algorithm &amp; BFS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541329"/>
            <a:ext cx="571500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368" y="4526280"/>
            <a:ext cx="50292" cy="132588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468172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DA6FF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92036" y="4666488"/>
            <a:ext cx="4738532" cy="78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F8FAFF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Tharun</a:t>
            </a:r>
            <a:r>
              <a:rPr dirty="0"/>
              <a:t> Mudhiraj  | 25MVCSMR0169</a:t>
            </a:r>
          </a:p>
          <a:p>
            <a:pPr>
              <a:spcAft>
                <a:spcPts val="300"/>
              </a:spcAft>
              <a:defRPr sz="940">
                <a:solidFill>
                  <a:srgbClr val="F8FAFF"/>
                </a:solidFill>
                <a:latin typeface="Aptos"/>
              </a:defRPr>
            </a:pPr>
            <a:r>
              <a:rPr dirty="0"/>
              <a:t>2. Nikhil Reddy     | 25MVCSMR0162</a:t>
            </a:r>
          </a:p>
          <a:p>
            <a:pPr>
              <a:spcAft>
                <a:spcPts val="300"/>
              </a:spcAft>
              <a:defRPr sz="940">
                <a:solidFill>
                  <a:srgbClr val="F8FAFF"/>
                </a:solidFill>
                <a:latin typeface="Aptos"/>
              </a:defRPr>
            </a:pPr>
            <a:r>
              <a:rPr dirty="0"/>
              <a:t>3. </a:t>
            </a:r>
            <a:r>
              <a:rPr dirty="0" err="1"/>
              <a:t>Manoj</a:t>
            </a:r>
            <a:r>
              <a:rPr dirty="0"/>
              <a:t> Goud       | 25MVCSMR0159</a:t>
            </a:r>
          </a:p>
          <a:p>
            <a:pPr>
              <a:spcAft>
                <a:spcPts val="300"/>
              </a:spcAft>
              <a:defRPr sz="940">
                <a:solidFill>
                  <a:srgbClr val="F8FAFF"/>
                </a:solidFill>
                <a:latin typeface="Aptos"/>
              </a:defRPr>
            </a:pPr>
            <a:r>
              <a:rPr dirty="0"/>
              <a:t>4. Varun Yadav      | 25MVCSMR01</a:t>
            </a:r>
            <a:r>
              <a:rPr lang="en-GB"/>
              <a:t>60</a:t>
            </a:r>
            <a:endParaRPr dirty="0"/>
          </a:p>
        </p:txBody>
      </p:sp>
      <p:sp>
        <p:nvSpPr>
          <p:cNvPr id="47" name="Rounded Rectangle 46"/>
          <p:cNvSpPr/>
          <p:nvPr/>
        </p:nvSpPr>
        <p:spPr>
          <a:xfrm>
            <a:off x="7050024" y="5449823"/>
            <a:ext cx="4343400" cy="1097280"/>
          </a:xfrm>
          <a:prstGeom prst="roundRect">
            <a:avLst/>
          </a:prstGeom>
          <a:solidFill>
            <a:srgbClr val="141D35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78040" y="5500115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15CFF"/>
                </a:solidFill>
                <a:latin typeface="Aptos"/>
              </a:defRPr>
            </a:pPr>
            <a:r>
              <a:rPr dirty="0"/>
              <a:t>PROBLEM DOMAIN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88432" y="5836255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F"/>
                </a:solidFill>
                <a:latin typeface="Aptos"/>
              </a:defRPr>
            </a:pPr>
            <a:r>
              <a:rPr dirty="0"/>
              <a:t>Healthcare • Emergency Navigation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3FA3EBF-71E9-77CE-97F7-4F729B605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548" y="145389"/>
            <a:ext cx="3042275" cy="1717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35040" y="-50293"/>
            <a:ext cx="3108960" cy="3108960"/>
          </a:xfrm>
          <a:prstGeom prst="ellipse">
            <a:avLst/>
          </a:prstGeom>
          <a:noFill/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0908" y="4474462"/>
            <a:ext cx="2377440" cy="2377440"/>
          </a:xfrm>
          <a:prstGeom prst="ellipse">
            <a:avLst/>
          </a:prstGeom>
          <a:noFill/>
          <a:ln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472184" y="2468880"/>
            <a:ext cx="2103120" cy="2103120"/>
          </a:xfrm>
          <a:prstGeom prst="ellipse">
            <a:avLst/>
          </a:prstGeom>
          <a:noFill/>
          <a:ln>
            <a:solidFill>
              <a:srgbClr val="3B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3108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AA6C2"/>
                </a:solidFill>
                <a:latin typeface="Aptos"/>
              </a:defRPr>
            </a:pPr>
            <a:r>
              <a:t>02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28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9144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8FA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5024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9AA6C2"/>
                </a:solidFill>
                <a:latin typeface="Aptos"/>
              </a:defRPr>
            </a:pPr>
            <a:r>
              <a:t>Emergency routing is a graph problem with urgency, travel cost and changing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3401568" cy="19659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50292" cy="196596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029967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REAL-WORLD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395727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Ambulances and emergency patients must reach critical locations quickly through a hospital/campus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74519"/>
            <a:ext cx="3401568" cy="19659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50292" cy="1965960"/>
          </a:xfrm>
          <a:prstGeom prst="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029967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5B5B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95727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Blocked corridors and delayed decisions can increase travel time when rapid response is essential.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874519"/>
            <a:ext cx="3547872" cy="19659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1874519"/>
            <a:ext cx="50292" cy="196596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2029967"/>
            <a:ext cx="3163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915CFF"/>
                </a:solidFill>
                <a:latin typeface="Aptos"/>
              </a:defRPr>
            </a:pPr>
            <a:r>
              <a:t>KEY 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395727"/>
            <a:ext cx="31638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• Different edge travel costs</a:t>
            </a:r>
            <a:br/>
            <a:r>
              <a:t>• Blocked corridors</a:t>
            </a:r>
            <a:br/>
            <a:r>
              <a:t>• Multiple urgency levels</a:t>
            </a:r>
            <a:br/>
            <a:r>
              <a:t>• Need for explainable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GRAPH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Aptos"/>
              </a:defRPr>
            </a:pPr>
            <a:r>
              <a:t>NODES = wards • entrances • emergency rooms • checkpoints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10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Aptos"/>
              </a:defRPr>
            </a:pPr>
            <a:r>
              <a:t>EDGES = corridors / roads with travel time or distance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04104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5B5B"/>
                </a:solidFill>
                <a:latin typeface="Aptos"/>
              </a:defRPr>
            </a:pPr>
            <a:r>
              <a:t>BLOCKED EDGE = temporarily removed from routing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60520"/>
            <a:ext cx="5230368" cy="1627632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160520"/>
            <a:ext cx="50292" cy="1627632"/>
          </a:xfrm>
          <a:prstGeom prst="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431596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3BE0D5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681728"/>
            <a:ext cx="48463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Minimize travel cost while respecting blocked corridors and prioritizing the most urgent destination.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68342" y="749807"/>
            <a:ext cx="1767840" cy="1827137"/>
          </a:xfrm>
          <a:prstGeom prst="ellipse">
            <a:avLst/>
          </a:prstGeom>
          <a:noFill/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77756" y="4398264"/>
            <a:ext cx="2377440" cy="2377440"/>
          </a:xfrm>
          <a:prstGeom prst="ellipse">
            <a:avLst/>
          </a:prstGeom>
          <a:noFill/>
          <a:ln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288" y="3739896"/>
            <a:ext cx="2103120" cy="2103120"/>
          </a:xfrm>
          <a:prstGeom prst="ellipse">
            <a:avLst/>
          </a:prstGeom>
          <a:noFill/>
          <a:ln>
            <a:solidFill>
              <a:srgbClr val="3B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OUR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3108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AA6C2"/>
                </a:solidFill>
                <a:latin typeface="Aptos"/>
              </a:defRPr>
            </a:pPr>
            <a:r>
              <a:t>03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28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9144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8FAFF"/>
                </a:solidFill>
                <a:latin typeface="Aptos"/>
              </a:defRPr>
            </a:pPr>
            <a:r>
              <a:t>OUR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5024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9AA6C2"/>
                </a:solidFill>
                <a:latin typeface="Aptos"/>
              </a:defRPr>
            </a:pPr>
            <a:r>
              <a:t>A transparent routing engine that shows not only the answer, but why the answer was selected.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783080"/>
            <a:ext cx="4526280" cy="1298448"/>
          </a:xfrm>
          <a:prstGeom prst="roundRect">
            <a:avLst/>
          </a:prstGeom>
          <a:solidFill>
            <a:srgbClr val="141D35"/>
          </a:solidFill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993392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915CFF"/>
                </a:solidFill>
                <a:latin typeface="Aptos"/>
              </a:defRPr>
            </a:pPr>
            <a:r>
              <a:t>ROUTING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39572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8FAFF"/>
                </a:solidFill>
                <a:latin typeface="Aptos"/>
              </a:defRPr>
            </a:pPr>
            <a:r>
              <a:t>Priority Queue + Dijkstra + BFS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3154680" cy="15544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50292" cy="1554480"/>
          </a:xfrm>
          <a:prstGeom prst="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813048"/>
            <a:ext cx="2770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3BE0D5"/>
                </a:solidFill>
                <a:latin typeface="Aptos"/>
              </a:defRPr>
            </a:pPr>
            <a:r>
              <a:t>PRIORITY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178808"/>
            <a:ext cx="2770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Repeatedly selects the most urgent item; ties can use lowest current route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657600"/>
            <a:ext cx="3154680" cy="15544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26280" y="3657600"/>
            <a:ext cx="50292" cy="155448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7448" y="3813048"/>
            <a:ext cx="2770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DIJKSTRA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178808"/>
            <a:ext cx="2770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Finds the least-cost path when corridor costs are non-negative.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3657600"/>
            <a:ext cx="3154680" cy="15544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94192" y="3657600"/>
            <a:ext cx="50292" cy="155448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813048"/>
            <a:ext cx="2770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915CFF"/>
                </a:solidFill>
                <a:latin typeface="Aptos"/>
              </a:defRPr>
            </a:pPr>
            <a:r>
              <a:t>BFS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178808"/>
            <a:ext cx="2770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Explores level by level for minimum-hop routing, reachability and components.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532120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BE0D5"/>
                </a:solidFill>
                <a:latin typeface="Aptos"/>
              </a:defRPr>
            </a:pPr>
            <a:r>
              <a:t>VISIBLE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83387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AA6C2"/>
                </a:solidFill>
                <a:latin typeface="Aptos"/>
              </a:defRPr>
            </a:pPr>
            <a:r>
              <a:t>Path • priority order • blocked edges • tentative costs • final 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42534" y="1325880"/>
            <a:ext cx="3108960" cy="3108960"/>
          </a:xfrm>
          <a:prstGeom prst="ellipse">
            <a:avLst/>
          </a:prstGeom>
          <a:noFill/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882231" y="2030591"/>
            <a:ext cx="1842931" cy="1937281"/>
          </a:xfrm>
          <a:prstGeom prst="ellipse">
            <a:avLst/>
          </a:prstGeom>
          <a:noFill/>
          <a:ln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26948" y="4160520"/>
            <a:ext cx="2103120" cy="2103120"/>
          </a:xfrm>
          <a:prstGeom prst="ellipse">
            <a:avLst/>
          </a:prstGeom>
          <a:noFill/>
          <a:ln>
            <a:solidFill>
              <a:srgbClr val="3B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3514" y="392845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3108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AA6C2"/>
                </a:solidFill>
                <a:latin typeface="Aptos"/>
              </a:defRPr>
            </a:pPr>
            <a:r>
              <a:t>04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28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9144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8FA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241783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9AA6C2"/>
                </a:solidFill>
                <a:latin typeface="Aptos"/>
              </a:defRPr>
            </a:pPr>
            <a:r>
              <a:t>The system exposes the search state so users can follow the routing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93392"/>
            <a:ext cx="2011680" cy="20116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1993392"/>
            <a:ext cx="50292" cy="201168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148840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14600"/>
            <a:ext cx="162763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Map + source + destinations</a:t>
            </a:r>
            <a:br/>
            <a:r>
              <a:t>travel costs + priorities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9776" y="1993392"/>
            <a:ext cx="2011680" cy="20116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79776" y="1993392"/>
            <a:ext cx="50292" cy="2011680"/>
          </a:xfrm>
          <a:prstGeom prst="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80944" y="2148840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25B5B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2514600"/>
            <a:ext cx="162763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Mark blocked corridors</a:t>
            </a:r>
            <a:br/>
            <a:r>
              <a:t>remove unavailable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993392"/>
            <a:ext cx="2011680" cy="20116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993392"/>
            <a:ext cx="50292" cy="2011680"/>
          </a:xfrm>
          <a:prstGeom prst="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5231" y="2148840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3BE0D5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514600"/>
            <a:ext cx="162763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Priority Queue selects</a:t>
            </a:r>
            <a:br/>
            <a:r>
              <a:t>most urgent candidate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8352" y="1993392"/>
            <a:ext cx="2011680" cy="20116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88352" y="1993392"/>
            <a:ext cx="50292" cy="201168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0" y="2148840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915C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514600"/>
            <a:ext cx="162763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Dijkstra computes least-cost</a:t>
            </a:r>
            <a:br/>
            <a:r>
              <a:t>path; BFS handles hop/reachability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993392"/>
            <a:ext cx="2011680" cy="20116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1993392"/>
            <a:ext cx="50292" cy="2011680"/>
          </a:xfrm>
          <a:prstGeom prst="rect">
            <a:avLst/>
          </a:prstGeom>
          <a:solidFill>
            <a:srgbClr val="53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93808" y="2148840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53DA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514600"/>
            <a:ext cx="162763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Final path + cost + order</a:t>
            </a:r>
            <a:br/>
            <a:r>
              <a:t>and decision trace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272491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3BE0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72491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3BE0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272491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3BE0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272491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3BE0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526280"/>
            <a:ext cx="1097280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4526280"/>
            <a:ext cx="50292" cy="1325880"/>
          </a:xfrm>
          <a:prstGeom prst="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6" y="4681728"/>
            <a:ext cx="10588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3BE0D5"/>
                </a:solidFill>
                <a:latin typeface="Aptos"/>
              </a:defRPr>
            </a:pPr>
            <a:r>
              <a:t>DECISION TRACE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047488"/>
            <a:ext cx="10588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Priority selected → node expanded → tentative cost updated → blocked corridor skipped → destination reached → path reconstructed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08655" y="2350008"/>
            <a:ext cx="1354975" cy="941832"/>
          </a:xfrm>
          <a:prstGeom prst="ellipse">
            <a:avLst/>
          </a:prstGeom>
          <a:noFill/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645402" y="2734888"/>
            <a:ext cx="2377440" cy="2377440"/>
          </a:xfrm>
          <a:prstGeom prst="ellipse">
            <a:avLst/>
          </a:prstGeom>
          <a:noFill/>
          <a:ln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52928" y="3879827"/>
            <a:ext cx="2103120" cy="2103120"/>
          </a:xfrm>
          <a:prstGeom prst="ellipse">
            <a:avLst/>
          </a:prstGeom>
          <a:noFill/>
          <a:ln>
            <a:solidFill>
              <a:srgbClr val="3B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TECHNOLOGY &amp;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3108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AA6C2"/>
                </a:solidFill>
                <a:latin typeface="Aptos"/>
              </a:defRPr>
            </a:pPr>
            <a:r>
              <a:t>05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28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9144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8FAFF"/>
                </a:solidFill>
                <a:latin typeface="Aptos"/>
              </a:defRPr>
            </a:pPr>
            <a:r>
              <a:t>TECHNOLOGY &amp;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5024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9AA6C2"/>
                </a:solidFill>
                <a:latin typeface="Aptos"/>
              </a:defRPr>
            </a:pPr>
            <a:r>
              <a:t>Use a weighted graph for route cost, a priority queue for urgency, and classic graph search for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19659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0292" cy="196596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938528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DATA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304288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Weighted adjacency list</a:t>
            </a:r>
            <a:br/>
            <a:r>
              <a:t>Node: location</a:t>
            </a:r>
            <a:br/>
            <a:r>
              <a:t>Edge: corridor + cost</a:t>
            </a:r>
            <a:br/>
            <a:r>
              <a:t>Status: open /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8808" y="1783080"/>
            <a:ext cx="3246120" cy="19659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78808" y="1783080"/>
            <a:ext cx="50292" cy="196596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1938528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915CFF"/>
                </a:solidFill>
                <a:latin typeface="Aptos"/>
              </a:defRPr>
            </a:pPr>
            <a:r>
              <a:t>DIJKSTRA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304288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Tentative distance d[v]</a:t>
            </a:r>
            <a:br/>
            <a:r>
              <a:t>Pick cheapest unexplored node</a:t>
            </a:r>
            <a:br/>
            <a:r>
              <a:t>Relax outgoing edges</a:t>
            </a:r>
            <a:br/>
            <a:r>
              <a:t>Reconstruct parent 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1783080"/>
            <a:ext cx="3246120" cy="19659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99248" y="1783080"/>
            <a:ext cx="50292" cy="1965960"/>
          </a:xfrm>
          <a:prstGeom prst="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0416" y="1938528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3BE0D5"/>
                </a:solidFill>
                <a:latin typeface="Aptos"/>
              </a:defRPr>
            </a:pPr>
            <a:r>
              <a:t>PRIORITY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2304288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Priority = urgency first</a:t>
            </a:r>
            <a:br/>
            <a:r>
              <a:t>Then current route cost</a:t>
            </a:r>
            <a:br/>
            <a:r>
              <a:t>Pop → process → update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33087"/>
            <a:ext cx="3246120" cy="15087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4133087"/>
            <a:ext cx="50292" cy="1508760"/>
          </a:xfrm>
          <a:prstGeom prst="rect">
            <a:avLst/>
          </a:prstGeom>
          <a:solidFill>
            <a:srgbClr val="53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4288536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53DA8B"/>
                </a:solidFill>
                <a:latin typeface="Aptos"/>
              </a:defRPr>
            </a:pPr>
            <a:r>
              <a:t>BFS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654296"/>
            <a:ext cx="286207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Level-by-level exploration</a:t>
            </a:r>
            <a:br/>
            <a:r>
              <a:t>Useful for minimum-hop paths</a:t>
            </a:r>
            <a:br/>
            <a:r>
              <a:t>and reachability.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4133087"/>
            <a:ext cx="3246120" cy="15087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78808" y="4133087"/>
            <a:ext cx="50292" cy="150876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9976" y="4288536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4654296"/>
            <a:ext cx="286207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Dijkstra with binary heap:</a:t>
            </a:r>
            <a:br/>
            <a:r>
              <a:t>O((V + E) log V)</a:t>
            </a:r>
            <a:br/>
            <a:r>
              <a:t>BFS: O(V + 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8" y="4133087"/>
            <a:ext cx="3246120" cy="15087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99248" y="4133087"/>
            <a:ext cx="50292" cy="1508760"/>
          </a:xfrm>
          <a:prstGeom prst="rect">
            <a:avLst/>
          </a:prstGeom>
          <a:solidFill>
            <a:srgbClr val="EC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0416" y="4288536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EC5CB8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0416" y="4654296"/>
            <a:ext cx="286207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Dijkstra → weighted least cost</a:t>
            </a:r>
            <a:br/>
            <a:r>
              <a:t>BFS → minimum hops</a:t>
            </a:r>
            <a:br/>
            <a:r>
              <a:t>Priority Queue → urgency ordering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25968" y="4782312"/>
            <a:ext cx="3108960" cy="1181100"/>
          </a:xfrm>
          <a:prstGeom prst="ellipse">
            <a:avLst/>
          </a:prstGeom>
          <a:noFill/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062472" y="832104"/>
            <a:ext cx="2377440" cy="2377440"/>
          </a:xfrm>
          <a:prstGeom prst="ellipse">
            <a:avLst/>
          </a:prstGeom>
          <a:noFill/>
          <a:ln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" y="4599432"/>
            <a:ext cx="2103120" cy="2103120"/>
          </a:xfrm>
          <a:prstGeom prst="ellipse">
            <a:avLst/>
          </a:prstGeom>
          <a:noFill/>
          <a:ln>
            <a:solidFill>
              <a:srgbClr val="3B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DEMO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3108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AA6C2"/>
                </a:solidFill>
                <a:latin typeface="Aptos"/>
              </a:defRPr>
            </a:pPr>
            <a:r>
              <a:t>06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28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9144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8FAFF"/>
                </a:solidFill>
                <a:latin typeface="Aptos"/>
              </a:defRPr>
            </a:pPr>
            <a:r>
              <a:t>DEMO &amp;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5024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9AA6C2"/>
                </a:solidFill>
                <a:latin typeface="Aptos"/>
              </a:defRPr>
            </a:pPr>
            <a:r>
              <a:t>A sample run should expose the route, blocked corridor, priority order and objective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6720840" cy="42519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SAMPLE MAP / DEMO VIEW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143000" y="2423160"/>
            <a:ext cx="1600200" cy="50292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2423160"/>
            <a:ext cx="1554480" cy="73152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297680" y="2423160"/>
            <a:ext cx="1463040" cy="73152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2423160"/>
            <a:ext cx="0" cy="192024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43200" y="4343400"/>
            <a:ext cx="1828800" cy="54864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72000" y="4251960"/>
            <a:ext cx="1508760" cy="64008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3154680"/>
            <a:ext cx="1783080" cy="109728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720" y="2423160"/>
            <a:ext cx="320040" cy="1828800"/>
          </a:xfrm>
          <a:prstGeom prst="line">
            <a:avLst/>
          </a:prstGeom>
          <a:ln w="50800">
            <a:solidFill>
              <a:srgbClr val="283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97680" y="2423160"/>
            <a:ext cx="1463040" cy="731520"/>
          </a:xfrm>
          <a:prstGeom prst="line">
            <a:avLst/>
          </a:prstGeom>
          <a:ln w="50800">
            <a:solidFill>
              <a:srgbClr val="F2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43000" y="2423160"/>
            <a:ext cx="1600200" cy="502920"/>
          </a:xfrm>
          <a:prstGeom prst="line">
            <a:avLst/>
          </a:prstGeom>
          <a:ln w="63500">
            <a:solidFill>
              <a:srgbClr val="3B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423160"/>
            <a:ext cx="1554480" cy="731520"/>
          </a:xfrm>
          <a:prstGeom prst="line">
            <a:avLst/>
          </a:prstGeom>
          <a:ln w="63500">
            <a:solidFill>
              <a:srgbClr val="3B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97680" y="3154680"/>
            <a:ext cx="1783080" cy="1097280"/>
          </a:xfrm>
          <a:prstGeom prst="line">
            <a:avLst/>
          </a:prstGeom>
          <a:ln w="63500">
            <a:solidFill>
              <a:srgbClr val="3B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33271" y="2816352"/>
            <a:ext cx="219456" cy="219456"/>
          </a:xfrm>
          <a:prstGeom prst="ellipse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07238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8FA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2633472" y="2313432"/>
            <a:ext cx="219456" cy="219456"/>
          </a:xfrm>
          <a:prstGeom prst="ellipse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51760" y="256946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8FA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4187952" y="3044952"/>
            <a:ext cx="219456" cy="219456"/>
          </a:xfrm>
          <a:prstGeom prst="ellipse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0" y="330098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8FA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5650992" y="2313432"/>
            <a:ext cx="219456" cy="219456"/>
          </a:xfrm>
          <a:prstGeom prst="ellipse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0" y="256946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8FA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2" name="Oval 31"/>
          <p:cNvSpPr/>
          <p:nvPr/>
        </p:nvSpPr>
        <p:spPr>
          <a:xfrm>
            <a:off x="2633472" y="4233672"/>
            <a:ext cx="219456" cy="219456"/>
          </a:xfrm>
          <a:prstGeom prst="ellipse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51760" y="448970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8FA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4" name="Oval 33"/>
          <p:cNvSpPr/>
          <p:nvPr/>
        </p:nvSpPr>
        <p:spPr>
          <a:xfrm>
            <a:off x="4462272" y="4782312"/>
            <a:ext cx="219456" cy="219456"/>
          </a:xfrm>
          <a:prstGeom prst="ellipse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503834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8FA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36" name="Oval 35"/>
          <p:cNvSpPr/>
          <p:nvPr/>
        </p:nvSpPr>
        <p:spPr>
          <a:xfrm>
            <a:off x="5971032" y="4142232"/>
            <a:ext cx="219456" cy="219456"/>
          </a:xfrm>
          <a:prstGeom prst="ellipse">
            <a:avLst/>
          </a:prstGeom>
          <a:solidFill>
            <a:srgbClr val="53D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9320" y="439826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8FA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5B5B"/>
                </a:solidFill>
                <a:latin typeface="Aptos"/>
              </a:defRPr>
            </a:pPr>
            <a:r>
              <a:t>BLOCKED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1755648"/>
            <a:ext cx="3950208" cy="10515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80960" y="1755648"/>
            <a:ext cx="50292" cy="1051560"/>
          </a:xfrm>
          <a:prstGeom prst="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82128" y="1911095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3BE0D5"/>
                </a:solidFill>
                <a:latin typeface="Aptos"/>
              </a:defRPr>
            </a:pPr>
            <a:r>
              <a:t>SELECTED ROUTE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8" y="2276856"/>
            <a:ext cx="35661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A → B → C → 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3035808"/>
            <a:ext cx="3950208" cy="105156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680960" y="3035808"/>
            <a:ext cx="50292" cy="105156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82128" y="3191256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OBJECTIVE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8" y="3557015"/>
            <a:ext cx="35661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Total travel cost = Σ edge costs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4315968"/>
            <a:ext cx="3950208" cy="169164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680960" y="4315968"/>
            <a:ext cx="50292" cy="169164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82128" y="4471416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915CFF"/>
                </a:solidFill>
                <a:latin typeface="Aptos"/>
              </a:defRPr>
            </a:pPr>
            <a:r>
              <a:t>DECISION TRACE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8" y="4837176"/>
            <a:ext cx="3566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1. Critical request enters queue</a:t>
            </a:r>
            <a:br/>
            <a:r>
              <a:t>2. Cheapest feasible node expanded</a:t>
            </a:r>
            <a:br/>
            <a:r>
              <a:t>3. C→D skipped: BLOCKED</a:t>
            </a:r>
            <a:br/>
            <a:r>
              <a:t>4. Parent links reconstruct route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37710" y="3183221"/>
            <a:ext cx="3108960" cy="3108960"/>
          </a:xfrm>
          <a:prstGeom prst="ellipse">
            <a:avLst/>
          </a:prstGeom>
          <a:noFill/>
          <a:ln>
            <a:solidFill>
              <a:srgbClr val="91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1307592"/>
            <a:ext cx="2377440" cy="2377440"/>
          </a:xfrm>
          <a:prstGeom prst="ellipse">
            <a:avLst/>
          </a:prstGeom>
          <a:noFill/>
          <a:ln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8872" y="1718241"/>
            <a:ext cx="2103120" cy="2148839"/>
          </a:xfrm>
          <a:prstGeom prst="ellipse">
            <a:avLst/>
          </a:prstGeom>
          <a:noFill/>
          <a:ln>
            <a:solidFill>
              <a:srgbClr val="3B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FUTURE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3108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AA6C2"/>
                </a:solidFill>
                <a:latin typeface="Aptos"/>
              </a:defRPr>
            </a:pPr>
            <a:r>
              <a:t>07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28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" y="694943"/>
            <a:ext cx="9144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8FAFF"/>
                </a:solidFill>
                <a:latin typeface="Aptos"/>
              </a:defRPr>
            </a:pPr>
            <a:r>
              <a:t>FUTURE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35024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9AA6C2"/>
                </a:solidFill>
                <a:latin typeface="Aptos"/>
              </a:defRPr>
            </a:pPr>
            <a:r>
              <a:t>Move from a static prototype to a live emergency navigation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242316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DA6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F"/>
                </a:solidFill>
                <a:latin typeface="Aptos"/>
              </a:defRPr>
            </a:pPr>
            <a:r>
              <a:t>LIVE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9AA6C2"/>
                </a:solidFill>
                <a:latin typeface="Aptos"/>
              </a:defRPr>
            </a:pPr>
            <a:r>
              <a:t>Real-time corridor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35915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DA6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874519"/>
            <a:ext cx="242316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20574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15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9572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F"/>
                </a:solidFill>
                <a:latin typeface="Aptos"/>
              </a:defRPr>
            </a:pPr>
            <a:r>
              <a:t>DYNAMIC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7432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9AA6C2"/>
                </a:solidFill>
                <a:latin typeface="Aptos"/>
              </a:defRPr>
            </a:pPr>
            <a:r>
              <a:t>Traffic / congestion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235915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915C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74519"/>
            <a:ext cx="242316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0574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E0D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9572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F"/>
                </a:solidFill>
                <a:latin typeface="Aptos"/>
              </a:defRPr>
            </a:pPr>
            <a:r>
              <a:t>MULTI-AMBULANCE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432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9AA6C2"/>
                </a:solidFill>
                <a:latin typeface="Aptos"/>
              </a:defRPr>
            </a:pPr>
            <a:r>
              <a:t>Conflict-aware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235915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3BE0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874519"/>
            <a:ext cx="242316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19" y="20574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C5C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39572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F"/>
                </a:solidFill>
                <a:latin typeface="Aptos"/>
              </a:defRPr>
            </a:pPr>
            <a:r>
              <a:t>PREDICTIVE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7432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9AA6C2"/>
                </a:solidFill>
                <a:latin typeface="Aptos"/>
              </a:defRPr>
            </a:pPr>
            <a:r>
              <a:t>ETA + incident prediction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069080"/>
            <a:ext cx="333756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4069080"/>
            <a:ext cx="50292" cy="132588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4224528"/>
            <a:ext cx="2953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DA6FF"/>
                </a:solidFill>
                <a:latin typeface="Aptos"/>
              </a:defRPr>
            </a:pPr>
            <a:r>
              <a:t>CURRENT ACHIEVEMENT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590288"/>
            <a:ext cx="29535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Graph representation + blocked corridors + priority queue + Dijkstra + BFS comparison.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6552" y="4069080"/>
            <a:ext cx="3337560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16552" y="4069080"/>
            <a:ext cx="50292" cy="1325880"/>
          </a:xfrm>
          <a:prstGeom prst="rect">
            <a:avLst/>
          </a:prstGeom>
          <a:solidFill>
            <a:srgbClr val="91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4224528"/>
            <a:ext cx="2953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915CFF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590288"/>
            <a:ext cx="29535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More locations, ambulances, destinations, dynamic costs and live map updates.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74736" y="4069080"/>
            <a:ext cx="3456432" cy="1325880"/>
          </a:xfrm>
          <a:prstGeom prst="roundRect">
            <a:avLst/>
          </a:prstGeom>
          <a:solidFill>
            <a:srgbClr val="10172B"/>
          </a:solidFill>
          <a:ln>
            <a:solidFill>
              <a:srgbClr val="28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74736" y="4069080"/>
            <a:ext cx="50292" cy="1325880"/>
          </a:xfrm>
          <a:prstGeom prst="rect">
            <a:avLst/>
          </a:prstGeom>
          <a:solidFill>
            <a:srgbClr val="3B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75904" y="4224528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3BE0D5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4590288"/>
            <a:ext cx="30723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8FAFF"/>
                </a:solidFill>
                <a:latin typeface="Aptos"/>
              </a:defRPr>
            </a:pPr>
            <a:r>
              <a:t>Fast routing + urgency-aware decisions + explainable algorithm output.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742432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F8FAFF"/>
                </a:solidFill>
                <a:latin typeface="Aptos"/>
              </a:defRPr>
            </a:pPr>
            <a:r>
              <a:t>EVERY SECOND COUNTS.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6272784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9AA6C2"/>
                </a:solidFill>
                <a:latin typeface="Aptos"/>
              </a:defRPr>
            </a:pPr>
            <a: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773</Words>
  <Application>Microsoft Office PowerPoint</Application>
  <PresentationFormat>Widescreen</PresentationFormat>
  <Paragraphs>135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Akhil Reddy</dc:creator>
  <cp:keywords/>
  <dc:description>generated using python-pptx</dc:description>
  <cp:lastModifiedBy>Akhil Reddy</cp:lastModifiedBy>
  <cp:revision>4</cp:revision>
  <dcterms:created xsi:type="dcterms:W3CDTF">2013-01-27T09:14:16Z</dcterms:created>
  <dcterms:modified xsi:type="dcterms:W3CDTF">2026-10-03T09:12:20Z</dcterms:modified>
  <cp:category/>
</cp:coreProperties>
</file>